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66928"/>
            <a:ext cx="12191695" cy="0"/>
          </a:xfrm>
          <a:prstGeom prst="line">
            <a:avLst/>
          </a:prstGeom>
          <a:ln w="12700">
            <a:solidFill>
              <a:srgbClr val="64748B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33856"/>
            <a:ext cx="12191695" cy="0"/>
          </a:xfrm>
          <a:prstGeom prst="line">
            <a:avLst/>
          </a:prstGeom>
          <a:ln w="12700">
            <a:solidFill>
              <a:srgbClr val="64748B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00784"/>
            <a:ext cx="12191695" cy="0"/>
          </a:xfrm>
          <a:prstGeom prst="line">
            <a:avLst/>
          </a:prstGeom>
          <a:ln w="12700">
            <a:solidFill>
              <a:srgbClr val="64748B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67712"/>
            <a:ext cx="12191695" cy="0"/>
          </a:xfrm>
          <a:prstGeom prst="line">
            <a:avLst/>
          </a:prstGeom>
          <a:ln w="12700">
            <a:solidFill>
              <a:srgbClr val="64748B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34640"/>
            <a:ext cx="12191695" cy="0"/>
          </a:xfrm>
          <a:prstGeom prst="line">
            <a:avLst/>
          </a:prstGeom>
          <a:ln w="12700">
            <a:solidFill>
              <a:srgbClr val="64748B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01568"/>
            <a:ext cx="12191695" cy="0"/>
          </a:xfrm>
          <a:prstGeom prst="line">
            <a:avLst/>
          </a:prstGeom>
          <a:ln w="12700">
            <a:solidFill>
              <a:srgbClr val="64748B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3968496"/>
            <a:ext cx="12191695" cy="0"/>
          </a:xfrm>
          <a:prstGeom prst="line">
            <a:avLst/>
          </a:prstGeom>
          <a:ln w="12700">
            <a:solidFill>
              <a:srgbClr val="64748B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35424"/>
            <a:ext cx="12191695" cy="0"/>
          </a:xfrm>
          <a:prstGeom prst="line">
            <a:avLst/>
          </a:prstGeom>
          <a:ln w="12700">
            <a:solidFill>
              <a:srgbClr val="64748B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02352"/>
            <a:ext cx="12191695" cy="0"/>
          </a:xfrm>
          <a:prstGeom prst="line">
            <a:avLst/>
          </a:prstGeom>
          <a:ln w="12700">
            <a:solidFill>
              <a:srgbClr val="64748B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669280"/>
            <a:ext cx="12191695" cy="0"/>
          </a:xfrm>
          <a:prstGeom prst="line">
            <a:avLst/>
          </a:prstGeom>
          <a:ln w="12700">
            <a:solidFill>
              <a:srgbClr val="64748B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36208"/>
            <a:ext cx="12191695" cy="0"/>
          </a:xfrm>
          <a:prstGeom prst="line">
            <a:avLst/>
          </a:prstGeom>
          <a:ln w="12700">
            <a:solidFill>
              <a:srgbClr val="64748B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03136"/>
            <a:ext cx="12191695" cy="0"/>
          </a:xfrm>
          <a:prstGeom prst="line">
            <a:avLst/>
          </a:prstGeom>
          <a:ln w="12700">
            <a:solidFill>
              <a:srgbClr val="64748B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12648" y="0"/>
            <a:ext cx="0" cy="685800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225296" y="0"/>
            <a:ext cx="0" cy="685800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837944" y="0"/>
            <a:ext cx="0" cy="685800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450592" y="0"/>
            <a:ext cx="0" cy="685800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063240" y="0"/>
            <a:ext cx="0" cy="685800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675888" y="0"/>
            <a:ext cx="0" cy="685800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288536" y="0"/>
            <a:ext cx="0" cy="685800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901184" y="0"/>
            <a:ext cx="0" cy="685800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513832" y="0"/>
            <a:ext cx="0" cy="685800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126480" y="0"/>
            <a:ext cx="0" cy="685800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739128" y="0"/>
            <a:ext cx="0" cy="685800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351776" y="0"/>
            <a:ext cx="0" cy="685800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964424" y="0"/>
            <a:ext cx="0" cy="685800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577072" y="0"/>
            <a:ext cx="0" cy="685800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189720" y="0"/>
            <a:ext cx="0" cy="685800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802368" y="0"/>
            <a:ext cx="0" cy="685800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415016" y="0"/>
            <a:ext cx="0" cy="685800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027664" y="0"/>
            <a:ext cx="0" cy="685800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1640312" y="0"/>
            <a:ext cx="0" cy="685800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7772400" y="1097280"/>
            <a:ext cx="5486400" cy="5486400"/>
          </a:xfrm>
          <a:prstGeom prst="ellipse">
            <a:avLst/>
          </a:prstGeom>
          <a:solidFill>
            <a:srgbClr val="22D3EE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173736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800" b="1">
                <a:solidFill>
                  <a:srgbClr val="E2E8F0"/>
                </a:solidFill>
                <a:latin typeface="微软雅黑"/>
                <a:ea typeface="微软雅黑"/>
              </a:rPr>
              <a:t>迷你硬币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30632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22D3EE"/>
                </a:solidFill>
                <a:latin typeface="微软雅黑"/>
                <a:ea typeface="微软雅黑"/>
              </a:rPr>
              <a:t>从零手搓的 AI 主播系统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38862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94A3B8"/>
                </a:solidFill>
                <a:latin typeface="微软雅黑"/>
                <a:ea typeface="微软雅黑"/>
              </a:rPr>
              <a:t>模型自训 · 情绪自研 · 管线自写 · 一个 8B 模型 + 一台 3090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8680" y="5212080"/>
            <a:ext cx="2377440" cy="56692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" y="5330952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38BDF8"/>
                </a:solidFill>
                <a:latin typeface="微软雅黑"/>
                <a:ea typeface="微软雅黑"/>
              </a:rPr>
              <a:t>Qwen3-8B 全参自训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474720" y="5212080"/>
            <a:ext cx="2377440" cy="56692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74720" y="5330952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38BDF8"/>
                </a:solidFill>
                <a:latin typeface="微软雅黑"/>
                <a:ea typeface="微软雅黑"/>
              </a:rPr>
              <a:t>神经科学情绪引擎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080760" y="5212080"/>
            <a:ext cx="2377440" cy="56692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80760" y="5330952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38BDF8"/>
                </a:solidFill>
                <a:latin typeface="微软雅黑"/>
                <a:ea typeface="微软雅黑"/>
              </a:rPr>
              <a:t>双记忆系统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686800" y="5212080"/>
            <a:ext cx="2377440" cy="56692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86800" y="5330952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38BDF8"/>
                </a:solidFill>
                <a:latin typeface="微软雅黑"/>
                <a:ea typeface="微软雅黑"/>
              </a:rPr>
              <a:t>Live2D 演绎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" y="59893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94A3B8"/>
                </a:solidFill>
                <a:latin typeface="Consolas"/>
                <a:ea typeface="微软雅黑"/>
              </a:rPr>
              <a:t>&gt; ./start_all.sh  # 12 个服务，一条命令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0" y="594360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22D3EE"/>
                </a:solidFill>
                <a:latin typeface="Consolas"/>
                <a:ea typeface="微软雅黑"/>
              </a:rPr>
              <a:t>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0040"/>
            <a:ext cx="73152" cy="5669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01168"/>
            <a:ext cx="8686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E2E8F0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4A3B8"/>
                </a:solidFill>
                <a:latin typeface="微软雅黑"/>
                <a:ea typeface="微软雅黑"/>
              </a:rPr>
              <a:t>五个部分，从系统到细节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26364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Consolas"/>
                <a:ea typeface="微软雅黑"/>
              </a:rPr>
              <a:t>02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554480"/>
            <a:ext cx="10515600" cy="8686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755648"/>
            <a:ext cx="1097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2D3EE"/>
                </a:solidFill>
                <a:latin typeface="Consolas"/>
                <a:ea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1673352"/>
            <a:ext cx="3657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E2E8F0"/>
                </a:solidFill>
                <a:latin typeface="微软雅黑"/>
                <a:ea typeface="微软雅黑"/>
              </a:rPr>
              <a:t>系统全景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81051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94A3B8"/>
                </a:solidFill>
                <a:latin typeface="微软雅黑"/>
                <a:ea typeface="微软雅黑"/>
              </a:rPr>
              <a:t>一个 AI 主播由什么组成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578608"/>
            <a:ext cx="10515600" cy="8686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779776"/>
            <a:ext cx="1097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2D3EE"/>
                </a:solidFill>
                <a:latin typeface="Consolas"/>
                <a:ea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2697480"/>
            <a:ext cx="3657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E2E8F0"/>
                </a:solidFill>
                <a:latin typeface="微软雅黑"/>
                <a:ea typeface="微软雅黑"/>
              </a:rPr>
              <a:t>主脑训练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83464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94A3B8"/>
                </a:solidFill>
                <a:latin typeface="微软雅黑"/>
                <a:ea typeface="微软雅黑"/>
              </a:rPr>
              <a:t>8B 模型的完整养成：PT → SFT → GRPO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602736"/>
            <a:ext cx="10515600" cy="8686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803904"/>
            <a:ext cx="1097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2D3EE"/>
                </a:solidFill>
                <a:latin typeface="Consolas"/>
                <a:ea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3721608"/>
            <a:ext cx="3657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E2E8F0"/>
                </a:solidFill>
                <a:latin typeface="微软雅黑"/>
                <a:ea typeface="微软雅黑"/>
              </a:rPr>
              <a:t>认知系统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858768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94A3B8"/>
                </a:solidFill>
                <a:latin typeface="微软雅黑"/>
                <a:ea typeface="微软雅黑"/>
              </a:rPr>
              <a:t>情绪引擎与双记忆，每个参数都有论文依据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626864"/>
            <a:ext cx="10515600" cy="8686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828032"/>
            <a:ext cx="1097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2D3EE"/>
                </a:solidFill>
                <a:latin typeface="Consolas"/>
                <a:ea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4745736"/>
            <a:ext cx="3657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E2E8F0"/>
                </a:solidFill>
                <a:latin typeface="微软雅黑"/>
                <a:ea typeface="微软雅黑"/>
              </a:rPr>
              <a:t>交互管线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882896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94A3B8"/>
                </a:solidFill>
                <a:latin typeface="微软雅黑"/>
                <a:ea typeface="微软雅黑"/>
              </a:rPr>
              <a:t>桥架构、弹幕打分、语音与 2D 演绎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650992"/>
            <a:ext cx="10515600" cy="8686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5852160"/>
            <a:ext cx="1097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2D3EE"/>
                </a:solidFill>
                <a:latin typeface="Consolas"/>
                <a:ea typeface="微软雅黑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77440" y="5769864"/>
            <a:ext cx="3657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E2E8F0"/>
                </a:solidFill>
                <a:latin typeface="微软雅黑"/>
                <a:ea typeface="微软雅黑"/>
              </a:rPr>
              <a:t>一些数字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5907024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94A3B8"/>
                </a:solidFill>
                <a:latin typeface="微软雅黑"/>
                <a:ea typeface="微软雅黑"/>
              </a:rPr>
              <a:t>2.5 个月、12 服务、24GB 跑 8B 全参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29107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微软雅黑"/>
                <a:ea typeface="微软雅黑"/>
              </a:rPr>
              <a:t>迷你硬币 · 从零手搓的 AI 主播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626364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Consolas"/>
                <a:ea typeface="微软雅黑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0040"/>
            <a:ext cx="73152" cy="5669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01168"/>
            <a:ext cx="8686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E2E8F0"/>
                </a:solidFill>
                <a:latin typeface="微软雅黑"/>
                <a:ea typeface="微软雅黑"/>
              </a:rPr>
              <a:t>一个完整的 AI 主播长什么样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4A3B8"/>
                </a:solidFill>
                <a:latin typeface="微软雅黑"/>
                <a:ea typeface="微软雅黑"/>
              </a:rPr>
              <a:t>感知 → 认知 → 表达，三层各司其职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26364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Consolas"/>
                <a:ea typeface="微软雅黑"/>
              </a:rPr>
              <a:t>03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63040"/>
            <a:ext cx="6400800" cy="13716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91056"/>
            <a:ext cx="5852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38BDF8"/>
                </a:solidFill>
                <a:latin typeface="微软雅黑"/>
                <a:ea typeface="微软雅黑"/>
              </a:rPr>
              <a:t>感知层  听 / 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21408"/>
            <a:ext cx="5852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E2E8F0"/>
                </a:solidFill>
                <a:latin typeface="微软雅黑"/>
                <a:ea typeface="微软雅黑"/>
              </a:rPr>
              <a:t>麦克风 → ASR 流式识别    弹幕 → B站采集打分    视觉（预留）</a:t>
            </a:r>
          </a:p>
        </p:txBody>
      </p:sp>
      <p:sp>
        <p:nvSpPr>
          <p:cNvPr id="10" name="Down Arrow 9"/>
          <p:cNvSpPr/>
          <p:nvPr/>
        </p:nvSpPr>
        <p:spPr>
          <a:xfrm>
            <a:off x="3383280" y="2834640"/>
            <a:ext cx="365760" cy="274320"/>
          </a:xfrm>
          <a:prstGeom prst="down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3136392"/>
            <a:ext cx="6400800" cy="13716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264408"/>
            <a:ext cx="5852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22D3EE"/>
                </a:solidFill>
                <a:latin typeface="微软雅黑"/>
                <a:ea typeface="微软雅黑"/>
              </a:rPr>
              <a:t>认知层  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94760"/>
            <a:ext cx="5852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E2E8F0"/>
                </a:solidFill>
                <a:latin typeface="微软雅黑"/>
                <a:ea typeface="微软雅黑"/>
              </a:rPr>
              <a:t>主脑 Qwen3-8B（自训）   输入中心：模块化 prompt 拼装   双记忆：上文归档 + 长期检索    搜索工具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3383280" y="4507992"/>
            <a:ext cx="365760" cy="274320"/>
          </a:xfrm>
          <a:prstGeom prst="down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4809744"/>
            <a:ext cx="6400800" cy="13716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937759"/>
            <a:ext cx="5852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38BDF8"/>
                </a:solidFill>
                <a:latin typeface="微软雅黑"/>
                <a:ea typeface="微软雅黑"/>
              </a:rPr>
              <a:t>表达层  说 / 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468112"/>
            <a:ext cx="5852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E2E8F0"/>
                </a:solidFill>
                <a:latin typeface="微软雅黑"/>
                <a:ea typeface="微软雅黑"/>
              </a:rPr>
              <a:t>TTS 混合声线 → 语音      情绪引擎 → Live2D 表情动作   2D 皮套 + 18 组待机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3383280" y="6181344"/>
            <a:ext cx="365760" cy="274320"/>
          </a:xfrm>
          <a:prstGeom prst="down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0" y="1463040"/>
            <a:ext cx="4206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E2E8F0"/>
                </a:solidFill>
                <a:latin typeface="微软雅黑"/>
                <a:ea typeface="微软雅黑"/>
              </a:rPr>
              <a:t>为什么全部自研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2011680"/>
            <a:ext cx="4206240" cy="32918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0" y="2240280"/>
            <a:ext cx="3657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2D3EE"/>
                </a:solidFill>
                <a:latin typeface="微软雅黑"/>
                <a:ea typeface="微软雅黑"/>
              </a:rPr>
              <a:t>用过 LangChain / Dify：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E2E8F0"/>
                </a:solidFill>
                <a:latin typeface="微软雅黑"/>
                <a:ea typeface="微软雅黑"/>
              </a:rPr>
              <a:t>功能是通用场景的，我的设计装不进去。</a:t>
            </a:r>
          </a:p>
          <a:p>
            <a:pPr algn="l">
              <a:spcAft>
                <a:spcPts val="400"/>
              </a:spcAft>
            </a:pPr>
            <a:r>
              <a:rPr sz="600" b="0">
                <a:solidFill>
                  <a:srgbClr val="E2E8F0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E2E8F0"/>
                </a:solidFill>
                <a:latin typeface="微软雅黑"/>
                <a:ea typeface="微软雅黑"/>
              </a:rPr>
              <a:t>模型要会 [TOOL:表情] 协议，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E2E8F0"/>
                </a:solidFill>
                <a:latin typeface="微软雅黑"/>
                <a:ea typeface="微软雅黑"/>
              </a:rPr>
              <a:t>history 要遵循 L0 哲学，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E2E8F0"/>
                </a:solidFill>
                <a:latin typeface="微软雅黑"/>
                <a:ea typeface="微软雅黑"/>
              </a:rPr>
              <a:t>情绪要走神经科学三层——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E2E8F0"/>
                </a:solidFill>
                <a:latin typeface="微软雅黑"/>
                <a:ea typeface="微软雅黑"/>
              </a:rPr>
              <a:t>框架里连表达这些的字段都没有。</a:t>
            </a:r>
          </a:p>
          <a:p>
            <a:pPr algn="l">
              <a:spcAft>
                <a:spcPts val="400"/>
              </a:spcAft>
            </a:pPr>
            <a:r>
              <a:rPr sz="600" b="0">
                <a:solidFill>
                  <a:srgbClr val="E2E8F0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22D3EE"/>
                </a:solidFill>
                <a:latin typeface="微软雅黑"/>
                <a:ea typeface="微软雅黑"/>
              </a:rPr>
              <a:t>所以：第一性原理手搓。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5486400"/>
            <a:ext cx="4206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4A3B8"/>
                </a:solidFill>
                <a:latin typeface="微软雅黑"/>
                <a:ea typeface="微软雅黑"/>
              </a:rPr>
              <a:t>“不知道有框架，反而造了框架装不下的东西”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29107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微软雅黑"/>
                <a:ea typeface="微软雅黑"/>
              </a:rPr>
              <a:t>迷你硬币 · 从零手搓的 AI 主播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26364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Consolas"/>
                <a:ea typeface="微软雅黑"/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0040"/>
            <a:ext cx="73152" cy="5669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01168"/>
            <a:ext cx="8686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E2E8F0"/>
                </a:solidFill>
                <a:latin typeface="微软雅黑"/>
                <a:ea typeface="微软雅黑"/>
              </a:rPr>
              <a:t>12 个服务，一条命令启动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4A3B8"/>
                </a:solidFill>
                <a:latin typeface="微软雅黑"/>
                <a:ea typeface="微软雅黑"/>
              </a:rPr>
              <a:t>bash start_all.sh —— 全部 HTTP 级就绪检查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26364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Consolas"/>
                <a:ea typeface="微软雅黑"/>
              </a:rPr>
              <a:t>04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383280" cy="960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536192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2D3EE"/>
                </a:solidFill>
                <a:latin typeface="Consolas"/>
                <a:ea typeface="微软雅黑"/>
              </a:rPr>
              <a:t>8080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527048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2E8F0"/>
                </a:solidFill>
                <a:latin typeface="微软雅黑"/>
                <a:ea typeface="微软雅黑"/>
              </a:rPr>
              <a:t>llama-server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947672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微软雅黑"/>
                <a:ea typeface="微软雅黑"/>
              </a:rPr>
              <a:t>主模型 Qwen3-8B v11b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1417320"/>
            <a:ext cx="3383280" cy="960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5112" y="1536192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2D3EE"/>
                </a:solidFill>
                <a:latin typeface="Consolas"/>
                <a:ea typeface="微软雅黑"/>
              </a:rPr>
              <a:t>18771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1527048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2E8F0"/>
                </a:solidFill>
                <a:latin typeface="微软雅黑"/>
                <a:ea typeface="微软雅黑"/>
              </a:rPr>
              <a:t>LLM 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5112" y="1947672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微软雅黑"/>
                <a:ea typeface="微软雅黑"/>
              </a:rPr>
              <a:t>透明代理 + ASR 文本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1417320"/>
            <a:ext cx="3383280" cy="960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1536192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2D3EE"/>
                </a:solidFill>
                <a:latin typeface="Consolas"/>
                <a:ea typeface="微软雅黑"/>
              </a:rPr>
              <a:t>18772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1527048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2E8F0"/>
                </a:solidFill>
                <a:latin typeface="微软雅黑"/>
                <a:ea typeface="微软雅黑"/>
              </a:rPr>
              <a:t>管线中心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5552" y="1947672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微软雅黑"/>
                <a:ea typeface="微软雅黑"/>
              </a:rPr>
              <a:t>模块拼装 + 冷却状态机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2523744"/>
            <a:ext cx="3383280" cy="960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1" y="2642615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2D3EE"/>
                </a:solidFill>
                <a:latin typeface="Consolas"/>
                <a:ea typeface="微软雅黑"/>
              </a:rPr>
              <a:t>18773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2633472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2E8F0"/>
                </a:solidFill>
                <a:latin typeface="微软雅黑"/>
                <a:ea typeface="微软雅黑"/>
              </a:rPr>
              <a:t>摘要模型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" y="3054096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微软雅黑"/>
                <a:ea typeface="微软雅黑"/>
              </a:rPr>
              <a:t>4B CPU 压缩归档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60520" y="2523744"/>
            <a:ext cx="3383280" cy="960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25112" y="2642615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2D3EE"/>
                </a:solidFill>
                <a:latin typeface="Consolas"/>
                <a:ea typeface="微软雅黑"/>
              </a:rPr>
              <a:t>18774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7800" y="2633472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2E8F0"/>
                </a:solidFill>
                <a:latin typeface="微软雅黑"/>
                <a:ea typeface="微软雅黑"/>
              </a:rPr>
              <a:t>记忆检索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5112" y="3054096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微软雅黑"/>
                <a:ea typeface="微软雅黑"/>
              </a:rPr>
              <a:t>BERT + embedding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80960" y="2523744"/>
            <a:ext cx="3383280" cy="960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45552" y="2642615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2D3EE"/>
                </a:solidFill>
                <a:latin typeface="Consolas"/>
                <a:ea typeface="微软雅黑"/>
              </a:rPr>
              <a:t>18775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2633472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2E8F0"/>
                </a:solidFill>
                <a:latin typeface="微软雅黑"/>
                <a:ea typeface="微软雅黑"/>
              </a:rPr>
              <a:t>搜索工具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45552" y="3054096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微软雅黑"/>
                <a:ea typeface="微软雅黑"/>
              </a:rPr>
              <a:t>秘塔 / DeepSeek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3630168"/>
            <a:ext cx="3383280" cy="960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1" y="3749039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2D3EE"/>
                </a:solidFill>
                <a:latin typeface="Consolas"/>
                <a:ea typeface="微软雅黑"/>
              </a:rPr>
              <a:t>18776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37360" y="3739896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2E8F0"/>
                </a:solidFill>
                <a:latin typeface="微软雅黑"/>
                <a:ea typeface="微软雅黑"/>
              </a:rPr>
              <a:t>弹幕接收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1" y="416052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微软雅黑"/>
                <a:ea typeface="微软雅黑"/>
              </a:rPr>
              <a:t>打分 + 三阈值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60520" y="3630168"/>
            <a:ext cx="3383280" cy="960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25112" y="3749039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2D3EE"/>
                </a:solidFill>
                <a:latin typeface="Consolas"/>
                <a:ea typeface="微软雅黑"/>
              </a:rPr>
              <a:t>19000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57800" y="3739896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2E8F0"/>
                </a:solidFill>
                <a:latin typeface="微软雅黑"/>
                <a:ea typeface="微软雅黑"/>
              </a:rPr>
              <a:t>弹幕采集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25112" y="416052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微软雅黑"/>
                <a:ea typeface="微软雅黑"/>
              </a:rPr>
              <a:t>B站开放平台 WS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680960" y="3630168"/>
            <a:ext cx="3383280" cy="960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45552" y="3749039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2D3EE"/>
                </a:solidFill>
                <a:latin typeface="Consolas"/>
                <a:ea typeface="微软雅黑"/>
              </a:rPr>
              <a:t>18768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78240" y="3739896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2E8F0"/>
                </a:solidFill>
                <a:latin typeface="微软雅黑"/>
                <a:ea typeface="微软雅黑"/>
              </a:rPr>
              <a:t>FACS 表情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45552" y="416052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微软雅黑"/>
                <a:ea typeface="微软雅黑"/>
              </a:rPr>
              <a:t>情绪检测引擎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" y="4736592"/>
            <a:ext cx="3383280" cy="960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4671" y="4855464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2D3EE"/>
                </a:solidFill>
                <a:latin typeface="Consolas"/>
                <a:ea typeface="微软雅黑"/>
              </a:rPr>
              <a:t>18769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737360" y="484632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2E8F0"/>
                </a:solidFill>
                <a:latin typeface="微软雅黑"/>
                <a:ea typeface="微软雅黑"/>
              </a:rPr>
              <a:t>Live2D 桥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4671" y="5266944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微软雅黑"/>
                <a:ea typeface="微软雅黑"/>
              </a:rPr>
              <a:t>前端 + WS 推送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160520" y="4736592"/>
            <a:ext cx="3383280" cy="960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25112" y="4855464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2D3EE"/>
                </a:solidFill>
                <a:latin typeface="Consolas"/>
                <a:ea typeface="微软雅黑"/>
              </a:rPr>
              <a:t>8000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57800" y="484632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2E8F0"/>
                </a:solidFill>
                <a:latin typeface="微软雅黑"/>
                <a:ea typeface="微软雅黑"/>
              </a:rPr>
              <a:t>TTS 语音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25112" y="5266944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微软雅黑"/>
                <a:ea typeface="微软雅黑"/>
              </a:rPr>
              <a:t>CosyVoice2 混合声线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680960" y="4736592"/>
            <a:ext cx="3383280" cy="960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845552" y="4855464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2D3EE"/>
                </a:solidFill>
                <a:latin typeface="Consolas"/>
                <a:ea typeface="微软雅黑"/>
              </a:rPr>
              <a:t>18686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78240" y="484632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2E8F0"/>
                </a:solidFill>
                <a:latin typeface="微软雅黑"/>
                <a:ea typeface="微软雅黑"/>
              </a:rPr>
              <a:t>ASR 听觉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45552" y="5266944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微软雅黑"/>
                <a:ea typeface="微软雅黑"/>
              </a:rPr>
              <a:t>paraformer 流式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" y="55778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94A3B8"/>
                </a:solidFill>
                <a:latin typeface="微软雅黑"/>
                <a:ea typeface="微软雅黑"/>
              </a:rPr>
              <a:t>就绪检查是 HTTP 级：模型加载完成才算 ✅，最多等 3 分钟 —— 端口通 ≠ 就绪（加载中端口也通）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" y="629107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微软雅黑"/>
                <a:ea typeface="微软雅黑"/>
              </a:rPr>
              <a:t>迷你硬币 · 从零手搓的 AI 主播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241280" y="626364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Consolas"/>
                <a:ea typeface="微软雅黑"/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0040"/>
            <a:ext cx="73152" cy="5669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01168"/>
            <a:ext cx="8686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E2E8F0"/>
                </a:solidFill>
                <a:latin typeface="微软雅黑"/>
                <a:ea typeface="微软雅黑"/>
              </a:rPr>
              <a:t>主脑：一个 8B 模型的完整养成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4A3B8"/>
                </a:solidFill>
                <a:latin typeface="微软雅黑"/>
                <a:ea typeface="微软雅黑"/>
              </a:rPr>
              <a:t>2.5 个月 · 十一个训练阶段 · 全部手写数据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26364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Consolas"/>
                <a:ea typeface="微软雅黑"/>
              </a:rPr>
              <a:t>05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063240"/>
            <a:ext cx="10972800" cy="2743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91640" y="2944368"/>
            <a:ext cx="274320" cy="27432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19" y="1554480"/>
            <a:ext cx="187451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664207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2D3EE"/>
                </a:solidFill>
                <a:latin typeface="Consolas"/>
                <a:ea typeface="微软雅黑"/>
              </a:rPr>
              <a:t>5月底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01168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E2E8F0"/>
                </a:solidFill>
                <a:latin typeface="微软雅黑"/>
                <a:ea typeface="微软雅黑"/>
              </a:rPr>
              <a:t>17阶段哲学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395728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微软雅黑"/>
                <a:ea typeface="微软雅黑"/>
              </a:rPr>
              <a:t>公理→因果→凯利公式→抽象思维，…</a:t>
            </a:r>
          </a:p>
        </p:txBody>
      </p:sp>
      <p:sp>
        <p:nvSpPr>
          <p:cNvPr id="13" name="Oval 12"/>
          <p:cNvSpPr/>
          <p:nvPr/>
        </p:nvSpPr>
        <p:spPr>
          <a:xfrm>
            <a:off x="3566160" y="2944368"/>
            <a:ext cx="274320" cy="27432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606040" y="3749039"/>
            <a:ext cx="187451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61488" y="3858768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2D3EE"/>
                </a:solidFill>
                <a:latin typeface="Consolas"/>
                <a:ea typeface="微软雅黑"/>
              </a:rPr>
              <a:t>6月中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61488" y="420624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E2E8F0"/>
                </a:solidFill>
                <a:latin typeface="微软雅黑"/>
                <a:ea typeface="微软雅黑"/>
              </a:rPr>
              <a:t>b 系列人格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61488" y="4590288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微软雅黑"/>
                <a:ea typeface="微软雅黑"/>
              </a:rPr>
              <a:t>Neuro-sama 风格转向：…</a:t>
            </a:r>
          </a:p>
        </p:txBody>
      </p:sp>
      <p:sp>
        <p:nvSpPr>
          <p:cNvPr id="18" name="Oval 17"/>
          <p:cNvSpPr/>
          <p:nvPr/>
        </p:nvSpPr>
        <p:spPr>
          <a:xfrm>
            <a:off x="5440679" y="2944368"/>
            <a:ext cx="274320" cy="27432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80559" y="1554480"/>
            <a:ext cx="187451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36007" y="1664207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2D3EE"/>
                </a:solidFill>
                <a:latin typeface="Consolas"/>
                <a:ea typeface="微软雅黑"/>
              </a:rPr>
              <a:t>6月底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36007" y="201168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E2E8F0"/>
                </a:solidFill>
                <a:latin typeface="微软雅黑"/>
                <a:ea typeface="微软雅黑"/>
              </a:rPr>
              <a:t>PT 持续预训练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36007" y="2395728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微软雅黑"/>
                <a:ea typeface="微软雅黑"/>
              </a:rPr>
              <a:t>v1-v53 叙事数据：场景→想…</a:t>
            </a:r>
          </a:p>
        </p:txBody>
      </p:sp>
      <p:sp>
        <p:nvSpPr>
          <p:cNvPr id="23" name="Oval 22"/>
          <p:cNvSpPr/>
          <p:nvPr/>
        </p:nvSpPr>
        <p:spPr>
          <a:xfrm>
            <a:off x="7315199" y="2944368"/>
            <a:ext cx="274320" cy="27432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55079" y="3749039"/>
            <a:ext cx="187451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0527" y="3858768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2D3EE"/>
                </a:solidFill>
                <a:latin typeface="Consolas"/>
                <a:ea typeface="微软雅黑"/>
              </a:rPr>
              <a:t>7月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7" y="420624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E2E8F0"/>
                </a:solidFill>
                <a:latin typeface="微软雅黑"/>
                <a:ea typeface="微软雅黑"/>
              </a:rPr>
              <a:t>工具链 GRPO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0527" y="4590288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微软雅黑"/>
                <a:ea typeface="微软雅黑"/>
              </a:rPr>
              <a:t>v1~v53 迭代，[TOOL:…</a:t>
            </a:r>
          </a:p>
        </p:txBody>
      </p:sp>
      <p:sp>
        <p:nvSpPr>
          <p:cNvPr id="28" name="Oval 27"/>
          <p:cNvSpPr/>
          <p:nvPr/>
        </p:nvSpPr>
        <p:spPr>
          <a:xfrm>
            <a:off x="9189719" y="2944368"/>
            <a:ext cx="274320" cy="27432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29599" y="1554480"/>
            <a:ext cx="187451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85047" y="1664207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2D3EE"/>
                </a:solidFill>
                <a:latin typeface="Consolas"/>
                <a:ea typeface="微软雅黑"/>
              </a:rPr>
              <a:t>7-23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5047" y="201168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E2E8F0"/>
                </a:solidFill>
                <a:latin typeface="微软雅黑"/>
                <a:ea typeface="微软雅黑"/>
              </a:rPr>
              <a:t>v9d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5047" y="2395728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微软雅黑"/>
                <a:ea typeface="微软雅黑"/>
              </a:rPr>
              <a:t>搞事数据定型：memory=上文…</a:t>
            </a:r>
          </a:p>
        </p:txBody>
      </p:sp>
      <p:sp>
        <p:nvSpPr>
          <p:cNvPr id="33" name="Oval 32"/>
          <p:cNvSpPr/>
          <p:nvPr/>
        </p:nvSpPr>
        <p:spPr>
          <a:xfrm>
            <a:off x="11064239" y="2944368"/>
            <a:ext cx="274320" cy="27432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104119" y="3749039"/>
            <a:ext cx="187451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259567" y="3858768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2D3EE"/>
                </a:solidFill>
                <a:latin typeface="Consolas"/>
                <a:ea typeface="微软雅黑"/>
              </a:rPr>
              <a:t>8月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59567" y="420624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E2E8F0"/>
                </a:solidFill>
                <a:latin typeface="微软雅黑"/>
                <a:ea typeface="微软雅黑"/>
              </a:rPr>
              <a:t>v12b（训练中）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59567" y="4590288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微软雅黑"/>
                <a:ea typeface="微软雅黑"/>
              </a:rPr>
              <a:t>类型倍率 ×5/×10/×20，…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3949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E2E8F0"/>
                </a:solidFill>
                <a:latin typeface="微软雅黑"/>
                <a:ea typeface="微软雅黑"/>
              </a:rPr>
              <a:t>数据方法论：memory = 上文到下文的连接（纯过去事实）；表情差异防照抄；thought = 意图分析 + 动机生成。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29107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微软雅黑"/>
                <a:ea typeface="微软雅黑"/>
              </a:rPr>
              <a:t>迷你硬币 · 从零手搓的 AI 主播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1280" y="626364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Consolas"/>
                <a:ea typeface="微软雅黑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0040"/>
            <a:ext cx="73152" cy="5669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01168"/>
            <a:ext cx="8686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E2E8F0"/>
                </a:solidFill>
                <a:latin typeface="微软雅黑"/>
                <a:ea typeface="微软雅黑"/>
              </a:rPr>
              <a:t>24GB 显存跑 8B 全参训练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4A3B8"/>
                </a:solidFill>
                <a:latin typeface="微软雅黑"/>
                <a:ea typeface="微软雅黑"/>
              </a:rPr>
              <a:t>最难的部分：优化器状态装不下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26364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Consolas"/>
                <a:ea typeface="微软雅黑"/>
              </a:rPr>
              <a:t>06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E2E8F0"/>
                </a:solidFill>
                <a:latin typeface="微软雅黑"/>
                <a:ea typeface="微软雅黑"/>
              </a:rPr>
              <a:t>显存账（24GB 上限）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E2E8F0"/>
                </a:solidFill>
                <a:latin typeface="微软雅黑"/>
                <a:ea typeface="微软雅黑"/>
              </a:rPr>
              <a:t>8B 权重 (bf16)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1600200"/>
            <a:ext cx="3840480" cy="310896"/>
          </a:xfrm>
          <a:prstGeom prst="roundRect">
            <a:avLst>
              <a:gd name="adj" fmla="val 6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0" y="1572768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4A3B8"/>
                </a:solidFill>
                <a:latin typeface="Consolas"/>
                <a:ea typeface="微软雅黑"/>
              </a:rPr>
              <a:t>16GB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5740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E2E8F0"/>
                </a:solidFill>
                <a:latin typeface="微软雅黑"/>
                <a:ea typeface="微软雅黑"/>
              </a:rPr>
              <a:t>激活 (max_len 512)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2103120"/>
            <a:ext cx="720090" cy="310896"/>
          </a:xfrm>
          <a:prstGeom prst="roundRect">
            <a:avLst>
              <a:gd name="adj" fmla="val 6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69129" y="2075688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4A3B8"/>
                </a:solidFill>
                <a:latin typeface="Consolas"/>
                <a:ea typeface="微软雅黑"/>
              </a:rPr>
              <a:t>3GB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6032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E2E8F0"/>
                </a:solidFill>
                <a:latin typeface="微软雅黑"/>
                <a:ea typeface="微软雅黑"/>
              </a:rPr>
              <a:t>Adam 状态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2606039"/>
            <a:ext cx="3840480" cy="310896"/>
          </a:xfrm>
          <a:prstGeom prst="roundRect">
            <a:avLst>
              <a:gd name="adj" fmla="val 6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0" y="2578608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4A3B8"/>
                </a:solidFill>
                <a:latin typeface="Consolas"/>
                <a:ea typeface="微软雅黑"/>
              </a:rPr>
              <a:t>16GB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063239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E2E8F0"/>
                </a:solidFill>
                <a:latin typeface="微软雅黑"/>
                <a:ea typeface="微软雅黑"/>
              </a:rPr>
              <a:t>Lomo 省掉 → 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0" y="3108959"/>
            <a:ext cx="45720" cy="310896"/>
          </a:xfrm>
          <a:prstGeom prst="roundRect">
            <a:avLst>
              <a:gd name="adj" fmla="val 6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94759" y="3081527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4A3B8"/>
                </a:solidFill>
                <a:latin typeface="Consolas"/>
                <a:ea typeface="微软雅黑"/>
              </a:rPr>
              <a:t>0GB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480560"/>
            <a:ext cx="5669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2D3EE"/>
                </a:solidFill>
                <a:latin typeface="微软雅黑"/>
                <a:ea typeface="微软雅黑"/>
              </a:rPr>
              <a:t>Lomo：逐层 in-place 更新，不存梯度/优化器状态 → 省 16GB，贴边跑通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E2E8F0"/>
                </a:solidFill>
                <a:latin typeface="微软雅黑"/>
                <a:ea typeface="微软雅黑"/>
              </a:rPr>
              <a:t>凭什么 24GB 能跑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66560" y="1691640"/>
            <a:ext cx="4754880" cy="38404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0" y="1920240"/>
            <a:ext cx="420624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2D3EE"/>
                </a:solidFill>
                <a:latin typeface="微软雅黑"/>
                <a:ea typeface="微软雅黑"/>
              </a:rPr>
              <a:t>· Lomo 优化器（复旦）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E2E8F0"/>
                </a:solidFill>
                <a:latin typeface="微软雅黑"/>
                <a:ea typeface="微软雅黑"/>
              </a:rPr>
              <a:t>  backward 到哪层就更新哪层参数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E2E8F0"/>
                </a:solidFill>
                <a:latin typeface="微软雅黑"/>
                <a:ea typeface="微软雅黑"/>
              </a:rPr>
              <a:t>  零优化器状态，zero_grad 不丢梯度</a:t>
            </a:r>
          </a:p>
          <a:p>
            <a:pPr algn="l">
              <a:spcAft>
                <a:spcPts val="400"/>
              </a:spcAft>
            </a:pPr>
            <a:r>
              <a:rPr sz="600" b="0">
                <a:solidFill>
                  <a:srgbClr val="E2E8F0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22D3EE"/>
                </a:solidFill>
                <a:latin typeface="微软雅黑"/>
                <a:ea typeface="微软雅黑"/>
              </a:rPr>
              <a:t>· bf16 + max_length=512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E2E8F0"/>
                </a:solidFill>
                <a:latin typeface="微软雅黑"/>
                <a:ea typeface="微软雅黑"/>
              </a:rPr>
              <a:t>  权重减半、激活极小</a:t>
            </a:r>
          </a:p>
          <a:p>
            <a:pPr algn="l">
              <a:spcAft>
                <a:spcPts val="400"/>
              </a:spcAft>
            </a:pPr>
            <a:r>
              <a:rPr sz="600" b="0">
                <a:solidFill>
                  <a:srgbClr val="E2E8F0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22D3EE"/>
                </a:solidFill>
                <a:latin typeface="微软雅黑"/>
                <a:ea typeface="微软雅黑"/>
              </a:rPr>
              <a:t>· GRPO GROUP_SIZE=2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E2E8F0"/>
                </a:solidFill>
                <a:latin typeface="微软雅黑"/>
                <a:ea typeface="微软雅黑"/>
              </a:rPr>
              <a:t>  1 采样 + 1 golden，batch 极小板</a:t>
            </a:r>
          </a:p>
          <a:p>
            <a:pPr algn="l">
              <a:spcAft>
                <a:spcPts val="400"/>
              </a:spcAft>
            </a:pPr>
            <a:r>
              <a:rPr sz="600" b="0">
                <a:solidFill>
                  <a:srgbClr val="E2E8F0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22D3EE"/>
                </a:solidFill>
                <a:latin typeface="微软雅黑"/>
                <a:ea typeface="微软雅黑"/>
              </a:rPr>
              <a:t>· 证据：玩游戏抢显存会 OOM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E2E8F0"/>
                </a:solidFill>
                <a:latin typeface="微软雅黑"/>
                <a:ea typeface="微软雅黑"/>
              </a:rPr>
              <a:t>  训练/推理与游戏共用 3090，余量极小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29107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微软雅黑"/>
                <a:ea typeface="微软雅黑"/>
              </a:rPr>
              <a:t>迷你硬币 · 从零手搓的 AI 主播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626364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Consolas"/>
                <a:ea typeface="微软雅黑"/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0040"/>
            <a:ext cx="73152" cy="5669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01168"/>
            <a:ext cx="8686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E2E8F0"/>
                </a:solidFill>
                <a:latin typeface="微软雅黑"/>
                <a:ea typeface="微软雅黑"/>
              </a:rPr>
              <a:t>情绪：按神经科学造的脸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4A3B8"/>
                </a:solidFill>
                <a:latin typeface="微软雅黑"/>
                <a:ea typeface="微软雅黑"/>
              </a:rPr>
              <a:t>不是问模型“你感觉怎样”，是测量 token 概率偏移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26364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Consolas"/>
                <a:ea typeface="微软雅黑"/>
              </a:rPr>
              <a:t>07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63040"/>
            <a:ext cx="6583680" cy="1033271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2D3EE"/>
                </a:solidFill>
                <a:latin typeface="微软雅黑"/>
                <a:ea typeface="微软雅黑"/>
              </a:rPr>
              <a:t>杏仁核层 · LeDoux 双通路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38528"/>
            <a:ext cx="5852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E2E8F0"/>
                </a:solidFill>
                <a:latin typeface="微软雅黑"/>
                <a:ea typeface="微软雅黑"/>
              </a:rPr>
              <a:t>tense / orient / approach / relax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572768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微软雅黑"/>
                <a:ea typeface="微软雅黑"/>
              </a:rPr>
              <a:t>12-74ms 第一反应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596896"/>
            <a:ext cx="6583680" cy="1033271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688336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E2E8F0"/>
                </a:solidFill>
                <a:latin typeface="微软雅黑"/>
                <a:ea typeface="微软雅黑"/>
              </a:rPr>
              <a:t>皮层层 · Hatfield 情绪感染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72384"/>
            <a:ext cx="5852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E2E8F0"/>
                </a:solidFill>
                <a:latin typeface="微软雅黑"/>
                <a:ea typeface="微软雅黑"/>
              </a:rPr>
              <a:t>Ekman 7 情绪 + neutral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706624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微软雅黑"/>
                <a:ea typeface="微软雅黑"/>
              </a:rPr>
              <a:t>语义理解后，40-90s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30752"/>
            <a:ext cx="6583680" cy="1033271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822191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E2E8F0"/>
                </a:solidFill>
                <a:latin typeface="微软雅黑"/>
                <a:ea typeface="微软雅黑"/>
              </a:rPr>
              <a:t>VAD 层 · Li 2017 注意力衰减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06240"/>
            <a:ext cx="5852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E2E8F0"/>
                </a:solidFill>
                <a:latin typeface="微软雅黑"/>
                <a:ea typeface="微软雅黑"/>
              </a:rPr>
              <a:t>说话者→听者映射，×4 失焦加速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384048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微软雅黑"/>
                <a:ea typeface="微软雅黑"/>
              </a:rPr>
              <a:t>半衰期按少女动力学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864608"/>
            <a:ext cx="6583680" cy="1033271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956048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E2E8F0"/>
                </a:solidFill>
                <a:latin typeface="微软雅黑"/>
                <a:ea typeface="微软雅黑"/>
              </a:rPr>
              <a:t>映射层 · FACS → Live2D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340096"/>
            <a:ext cx="5852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E2E8F0"/>
                </a:solidFill>
                <a:latin typeface="微软雅黑"/>
                <a:ea typeface="微软雅黑"/>
              </a:rPr>
              <a:t>13 通道表情参数 + sigmoid 可见阈值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4974336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微软雅黑"/>
                <a:ea typeface="微软雅黑"/>
              </a:rPr>
              <a:t>Calvo 2016 各情绪不同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1463040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E2E8F0"/>
                </a:solidFill>
                <a:latin typeface="微软雅黑"/>
                <a:ea typeface="微软雅黑"/>
              </a:rPr>
              <a:t>每个参数都有论文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79" y="2011680"/>
            <a:ext cx="4023360" cy="36576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0" y="2194560"/>
            <a:ext cx="347472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2D3EE"/>
                </a:solidFill>
                <a:latin typeface="微软雅黑"/>
                <a:ea typeface="微软雅黑"/>
              </a:rPr>
              <a:t>· LeDoux 1996 双通路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22D3EE"/>
                </a:solidFill>
                <a:latin typeface="微软雅黑"/>
                <a:ea typeface="微软雅黑"/>
              </a:rPr>
              <a:t>· Hatfield 1992 情绪感染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22D3EE"/>
                </a:solidFill>
                <a:latin typeface="微软雅黑"/>
                <a:ea typeface="微软雅黑"/>
              </a:rPr>
              <a:t>· Calvo 2016 可见阈值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微软雅黑"/>
                <a:ea typeface="微软雅黑"/>
              </a:rPr>
              <a:t>  happy 20% / fear 50%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22D3EE"/>
                </a:solidFill>
                <a:latin typeface="微软雅黑"/>
                <a:ea typeface="微软雅黑"/>
              </a:rPr>
              <a:t>· Li 2017 注意力衰减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22D3EE"/>
                </a:solidFill>
                <a:latin typeface="微软雅黑"/>
                <a:ea typeface="微软雅黑"/>
              </a:rPr>
              <a:t>· Solomon 1974 对立过程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22D3EE"/>
                </a:solidFill>
                <a:latin typeface="微软雅黑"/>
                <a:ea typeface="微软雅黑"/>
              </a:rPr>
              <a:t>· Chaplin 2013 少女动力学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22D3EE"/>
                </a:solidFill>
                <a:latin typeface="微软雅黑"/>
                <a:ea typeface="微软雅黑"/>
              </a:rPr>
              <a:t>· Du/Ross 上下半脸独立控制</a:t>
            </a:r>
          </a:p>
          <a:p>
            <a:pPr algn="l">
              <a:spcAft>
                <a:spcPts val="400"/>
              </a:spcAft>
            </a:pPr>
            <a:r>
              <a:rPr sz="600" b="0">
                <a:solidFill>
                  <a:srgbClr val="E2E8F0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94A3B8"/>
                </a:solidFill>
                <a:latin typeface="微软雅黑"/>
                <a:ea typeface="微软雅黑"/>
              </a:rPr>
              <a:t>情绪 = LLM 生成时情绪 token 概率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94A3B8"/>
                </a:solidFill>
                <a:latin typeface="微软雅黑"/>
                <a:ea typeface="微软雅黑"/>
              </a:rPr>
              <a:t>的偏移量 —— 律度 = (刺激-基线)/基线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29107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微软雅黑"/>
                <a:ea typeface="微软雅黑"/>
              </a:rPr>
              <a:t>迷你硬币 · 从零手搓的 AI 主播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626364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Consolas"/>
                <a:ea typeface="微软雅黑"/>
              </a:rP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0040"/>
            <a:ext cx="73152" cy="5669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01168"/>
            <a:ext cx="8686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E2E8F0"/>
                </a:solidFill>
                <a:latin typeface="微软雅黑"/>
                <a:ea typeface="微软雅黑"/>
              </a:rPr>
              <a:t>双记忆：一个负责忘，一个负责想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4A3B8"/>
                </a:solidFill>
                <a:latin typeface="微软雅黑"/>
                <a:ea typeface="微软雅黑"/>
              </a:rPr>
              <a:t>上文记忆（写）+ 长期记忆（读），并行工作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26364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Consolas"/>
                <a:ea typeface="微软雅黑"/>
              </a:rPr>
              <a:t>08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63040"/>
            <a:ext cx="5303520" cy="40233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27632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8BDF8"/>
                </a:solidFill>
                <a:latin typeface="微软雅黑"/>
                <a:ea typeface="微软雅黑"/>
              </a:rPr>
              <a:t>上文记忆 · 写（压缩归档）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194560"/>
            <a:ext cx="4754880" cy="548640"/>
          </a:xfrm>
          <a:prstGeom prst="roundRect">
            <a:avLst>
              <a:gd name="adj" fmla="val 6000"/>
            </a:avLst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313432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8BDF8"/>
                </a:solidFill>
                <a:latin typeface="微软雅黑"/>
                <a:ea typeface="微软雅黑"/>
              </a:rPr>
              <a:t>L0 原文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322576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E2E8F0"/>
                </a:solidFill>
                <a:latin typeface="微软雅黑"/>
                <a:ea typeface="微软雅黑"/>
              </a:rPr>
              <a:t>保留 5 轮完整对话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816352"/>
            <a:ext cx="4754880" cy="548640"/>
          </a:xfrm>
          <a:prstGeom prst="roundRect">
            <a:avLst>
              <a:gd name="adj" fmla="val 6000"/>
            </a:avLst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2935224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8BDF8"/>
                </a:solidFill>
                <a:latin typeface="微软雅黑"/>
                <a:ea typeface="微软雅黑"/>
              </a:rPr>
              <a:t>L1 段落摘要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944368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E2E8F0"/>
                </a:solidFill>
                <a:latin typeface="微软雅黑"/>
                <a:ea typeface="微软雅黑"/>
              </a:rPr>
              <a:t>每轮压缩 + PPL 过滤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438144"/>
            <a:ext cx="4754880" cy="548640"/>
          </a:xfrm>
          <a:prstGeom prst="roundRect">
            <a:avLst>
              <a:gd name="adj" fmla="val 6000"/>
            </a:avLst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3557016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8BDF8"/>
                </a:solidFill>
                <a:latin typeface="微软雅黑"/>
                <a:ea typeface="微软雅黑"/>
              </a:rPr>
              <a:t>L2 会话摘要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56616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E2E8F0"/>
                </a:solidFill>
                <a:latin typeface="微软雅黑"/>
                <a:ea typeface="微软雅黑"/>
              </a:rPr>
              <a:t>3 条 L1 合并，带时间戳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059936"/>
            <a:ext cx="4754880" cy="548640"/>
          </a:xfrm>
          <a:prstGeom prst="roundRect">
            <a:avLst>
              <a:gd name="adj" fmla="val 6000"/>
            </a:avLst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4178808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8BDF8"/>
                </a:solidFill>
                <a:latin typeface="微软雅黑"/>
                <a:ea typeface="微软雅黑"/>
              </a:rPr>
              <a:t>L3 日常摘要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4187952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E2E8F0"/>
                </a:solidFill>
                <a:latin typeface="微软雅黑"/>
                <a:ea typeface="微软雅黑"/>
              </a:rPr>
              <a:t>“我和X进行了闲聊”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681728"/>
            <a:ext cx="4754880" cy="548640"/>
          </a:xfrm>
          <a:prstGeom prst="roundRect">
            <a:avLst>
              <a:gd name="adj" fmla="val 6000"/>
            </a:avLst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480060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8BDF8"/>
                </a:solidFill>
                <a:latin typeface="微软雅黑"/>
                <a:ea typeface="微软雅黑"/>
              </a:rPr>
              <a:t>L4 永久记忆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4809744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E2E8F0"/>
                </a:solidFill>
                <a:latin typeface="微软雅黑"/>
                <a:ea typeface="微软雅黑"/>
              </a:rPr>
              <a:t>高 PPL(&gt;15) 直接归档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1463040"/>
            <a:ext cx="5303520" cy="40233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1627632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22D3EE"/>
                </a:solidFill>
                <a:latin typeface="微软雅黑"/>
                <a:ea typeface="微软雅黑"/>
              </a:rPr>
              <a:t>长期记忆 · 读（检索召回）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2194560"/>
            <a:ext cx="4754880" cy="548640"/>
          </a:xfrm>
          <a:prstGeom prst="roundRect">
            <a:avLst>
              <a:gd name="adj" fmla="val 6000"/>
            </a:avLst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0840" y="2313432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2D3EE"/>
                </a:solidFill>
                <a:latin typeface="微软雅黑"/>
                <a:ea typeface="微软雅黑"/>
              </a:rPr>
              <a:t>L0.5 转写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2322576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E2E8F0"/>
                </a:solidFill>
                <a:latin typeface="微软雅黑"/>
                <a:ea typeface="微软雅黑"/>
              </a:rPr>
              <a:t>想法/回复/工具 → 第一视角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92240" y="2816352"/>
            <a:ext cx="4754880" cy="548640"/>
          </a:xfrm>
          <a:prstGeom prst="roundRect">
            <a:avLst>
              <a:gd name="adj" fmla="val 6000"/>
            </a:avLst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0840" y="2935224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2D3EE"/>
                </a:solidFill>
                <a:latin typeface="微软雅黑"/>
                <a:ea typeface="微软雅黑"/>
              </a:rPr>
              <a:t>BERT 分类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0" y="2944368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E2E8F0"/>
                </a:solidFill>
                <a:latin typeface="微软雅黑"/>
                <a:ea typeface="微软雅黑"/>
              </a:rPr>
              <a:t>领域/规模/时间/评价 四轴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92240" y="3438144"/>
            <a:ext cx="4754880" cy="548640"/>
          </a:xfrm>
          <a:prstGeom prst="roundRect">
            <a:avLst>
              <a:gd name="adj" fmla="val 6000"/>
            </a:avLst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20840" y="3557016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2D3EE"/>
                </a:solidFill>
                <a:latin typeface="微软雅黑"/>
                <a:ea typeface="微软雅黑"/>
              </a:rPr>
              <a:t>重心位移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0" y="356616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E2E8F0"/>
                </a:solidFill>
                <a:latin typeface="微软雅黑"/>
                <a:ea typeface="微软雅黑"/>
              </a:rPr>
              <a:t>硬币态度偏移 → 目标空间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92240" y="4059936"/>
            <a:ext cx="4754880" cy="548640"/>
          </a:xfrm>
          <a:prstGeom prst="roundRect">
            <a:avLst>
              <a:gd name="adj" fmla="val 6000"/>
            </a:avLst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20840" y="4178808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2D3EE"/>
                </a:solidFill>
                <a:latin typeface="微软雅黑"/>
                <a:ea typeface="微软雅黑"/>
              </a:rPr>
              <a:t>只走主移动一步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69680" y="4187952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E2E8F0"/>
                </a:solidFill>
                <a:latin typeface="微软雅黑"/>
                <a:ea typeface="微软雅黑"/>
              </a:rPr>
              <a:t>防检索空间跳空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92240" y="4681728"/>
            <a:ext cx="4754880" cy="548640"/>
          </a:xfrm>
          <a:prstGeom prst="roundRect">
            <a:avLst>
              <a:gd name="adj" fmla="val 6000"/>
            </a:avLst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20840" y="480060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2D3EE"/>
                </a:solidFill>
                <a:latin typeface="微软雅黑"/>
                <a:ea typeface="微软雅黑"/>
              </a:rPr>
              <a:t>embedding 精排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69680" y="4809744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E2E8F0"/>
                </a:solidFill>
                <a:latin typeface="微软雅黑"/>
                <a:ea typeface="微软雅黑"/>
              </a:rPr>
              <a:t>bge 余弦 → top-3 命中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56235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4A3B8"/>
                </a:solidFill>
                <a:latin typeface="微软雅黑"/>
                <a:ea typeface="微软雅黑"/>
              </a:rPr>
              <a:t>记忆库：1489 条（50 个人际关系 + 知识条目 + 新闻事实）· 记忆 = 纯事件叙述，标签只用于推算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29107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微软雅黑"/>
                <a:ea typeface="微软雅黑"/>
              </a:rPr>
              <a:t>迷你硬币 · 从零手搓的 AI 主播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41280" y="626364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Consolas"/>
                <a:ea typeface="微软雅黑"/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0040"/>
            <a:ext cx="73152" cy="5669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01168"/>
            <a:ext cx="8686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E2E8F0"/>
                </a:solidFill>
                <a:latin typeface="微软雅黑"/>
                <a:ea typeface="微软雅黑"/>
              </a:rPr>
              <a:t>输入管线：桥、冷却与清洗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4A3B8"/>
                </a:solidFill>
                <a:latin typeface="微软雅黑"/>
                <a:ea typeface="微软雅黑"/>
              </a:rPr>
              <a:t>一切输入走桥，一切输出过清洗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26364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Consolas"/>
                <a:ea typeface="微软雅黑"/>
              </a:rPr>
              <a:t>09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1783080" cy="13716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2D3EE"/>
                </a:solidFill>
                <a:latin typeface="微软雅黑"/>
                <a:ea typeface="微软雅黑"/>
              </a:rPr>
              <a:t>写桥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1600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E2E8F0"/>
                </a:solidFill>
                <a:latin typeface="微软雅黑"/>
                <a:ea typeface="微软雅黑"/>
              </a:rPr>
              <a:t>外部输入只 POST /text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423160" y="2057400"/>
            <a:ext cx="274320" cy="36576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24911" y="1554480"/>
            <a:ext cx="1783080" cy="13716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39" y="169164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2E8F0"/>
                </a:solidFill>
                <a:latin typeface="微软雅黑"/>
                <a:ea typeface="微软雅黑"/>
              </a:rPr>
              <a:t>轮询触发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39" y="2103120"/>
            <a:ext cx="1600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E2E8F0"/>
                </a:solidFill>
                <a:latin typeface="微软雅黑"/>
                <a:ea typeface="微软雅黑"/>
              </a:rPr>
              <a:t>每秒查触发源桥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507992" y="2057400"/>
            <a:ext cx="274320" cy="36576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809744" y="1554480"/>
            <a:ext cx="1783080" cy="13716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19472" y="169164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2D3EE"/>
                </a:solidFill>
                <a:latin typeface="微软雅黑"/>
                <a:ea typeface="微软雅黑"/>
              </a:rPr>
              <a:t>冷却状态机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19472" y="2103120"/>
            <a:ext cx="1600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E2E8F0"/>
                </a:solidFill>
                <a:latin typeface="微软雅黑"/>
                <a:ea typeface="微软雅黑"/>
              </a:rPr>
              <a:t>5s 冷却 + 积压合并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592824" y="2057400"/>
            <a:ext cx="274320" cy="36576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894575" y="1554480"/>
            <a:ext cx="1783080" cy="13716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04303" y="169164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2E8F0"/>
                </a:solidFill>
                <a:latin typeface="微软雅黑"/>
                <a:ea typeface="微软雅黑"/>
              </a:rPr>
              <a:t>拼 prompt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04303" y="2103120"/>
            <a:ext cx="1600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E2E8F0"/>
                </a:solidFill>
                <a:latin typeface="微软雅黑"/>
                <a:ea typeface="微软雅黑"/>
              </a:rPr>
              <a:t>模块化：记忆/摘要/输入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677655" y="2057400"/>
            <a:ext cx="274320" cy="36576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979407" y="1554480"/>
            <a:ext cx="1783080" cy="13716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89135" y="169164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2D3EE"/>
                </a:solidFill>
                <a:latin typeface="微软雅黑"/>
                <a:ea typeface="微软雅黑"/>
              </a:rPr>
              <a:t>清洗回复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89135" y="2103120"/>
            <a:ext cx="1600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E2E8F0"/>
                </a:solidFill>
                <a:latin typeface="微软雅黑"/>
                <a:ea typeface="微软雅黑"/>
              </a:rPr>
              <a:t>删复读/工具闭合/非法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10762487" y="2057400"/>
            <a:ext cx="274320" cy="36576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1064239" y="1554480"/>
            <a:ext cx="1783080" cy="13716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173967" y="169164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2E8F0"/>
                </a:solidFill>
                <a:latin typeface="微软雅黑"/>
                <a:ea typeface="微软雅黑"/>
              </a:rPr>
              <a:t>三队列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73967" y="2103120"/>
            <a:ext cx="1600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E2E8F0"/>
                </a:solidFill>
                <a:latin typeface="微软雅黑"/>
                <a:ea typeface="微软雅黑"/>
              </a:rPr>
              <a:t>表达/执行/报错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3291840"/>
            <a:ext cx="10972800" cy="2377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3474720"/>
            <a:ext cx="104241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2D3EE"/>
                </a:solidFill>
                <a:latin typeface="微软雅黑"/>
                <a:ea typeface="微软雅黑"/>
              </a:rPr>
              <a:t>L0 哲学：history = LLM 真实看见过的东西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E2E8F0"/>
                </a:solidFill>
                <a:latin typeface="微软雅黑"/>
                <a:ea typeface="微软雅黑"/>
              </a:rPr>
              <a:t>发送成功才算数 —— 发送失败/冷却期被覆盖 = 不存在，像说话太快对方没听见。</a:t>
            </a:r>
          </a:p>
          <a:p>
            <a:pPr algn="l">
              <a:spcAft>
                <a:spcPts val="400"/>
              </a:spcAft>
            </a:pPr>
            <a:r>
              <a:rPr sz="600" b="0">
                <a:solidFill>
                  <a:srgbClr val="E2E8F0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22D3EE"/>
                </a:solidFill>
                <a:latin typeface="微软雅黑"/>
                <a:ea typeface="微软雅黑"/>
              </a:rPr>
              <a:t>读后清空（wait 哨兵）：消费者 GET /take 原子“返回 + 置 wait”，单消费者零重复零状态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E2E8F0"/>
                </a:solidFill>
                <a:latin typeface="微软雅黑"/>
                <a:ea typeface="微软雅黑"/>
              </a:rPr>
              <a:t>弹幕消费弃用 SSE —— 长连接状态坑多，推即弃无重放。</a:t>
            </a:r>
          </a:p>
          <a:p>
            <a:pPr algn="l">
              <a:spcAft>
                <a:spcPts val="400"/>
              </a:spcAft>
            </a:pPr>
            <a:r>
              <a:rPr sz="600" b="0">
                <a:solidFill>
                  <a:srgbClr val="E2E8F0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22D3EE"/>
                </a:solidFill>
                <a:latin typeface="微软雅黑"/>
                <a:ea typeface="微软雅黑"/>
              </a:rPr>
              <a:t>[TOOL:] 协议：思考写进内心戏，表达走 [TOOL:回复]，物理断开 —— 自回归限制的解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E2E8F0"/>
                </a:solidFill>
                <a:latin typeface="微软雅黑"/>
                <a:ea typeface="微软雅黑"/>
              </a:rPr>
              <a:t>思考的 token 概率不再污染说出口的话。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29107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微软雅黑"/>
                <a:ea typeface="微软雅黑"/>
              </a:rPr>
              <a:t>迷你硬币 · 从零手搓的 AI 主播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626364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Consolas"/>
                <a:ea typeface="微软雅黑"/>
              </a:rP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0040"/>
            <a:ext cx="73152" cy="5669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01168"/>
            <a:ext cx="8686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E2E8F0"/>
                </a:solidFill>
                <a:latin typeface="微软雅黑"/>
                <a:ea typeface="微软雅黑"/>
              </a:rPr>
              <a:t>弹幕、语音与 2D 演绎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4A3B8"/>
                </a:solidFill>
                <a:latin typeface="微软雅黑"/>
                <a:ea typeface="微软雅黑"/>
              </a:rPr>
              <a:t>会看弹幕、会说话、会做小动作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26364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Consolas"/>
                <a:ea typeface="微软雅黑"/>
              </a:rPr>
              <a:t>10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E2E8F0"/>
                </a:solidFill>
                <a:latin typeface="微软雅黑"/>
                <a:ea typeface="微软雅黑"/>
              </a:rPr>
              <a:t>弹幕打分：16 个特征全部来自实证论文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5852160" cy="8229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65960"/>
            <a:ext cx="5394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E2E8F0"/>
                </a:solidFill>
                <a:latin typeface="微软雅黑"/>
                <a:ea typeface="微软雅黑"/>
              </a:rPr>
              <a:t>问号 +0.25 · 叫名字 +0.25 · 脑洞 +0.15 · 站队 +0.12  ……  纯垃圾 -0.30 · 纯陈述 -0.12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834640"/>
            <a:ext cx="1828800" cy="731520"/>
          </a:xfrm>
          <a:prstGeom prst="roundRect">
            <a:avLst>
              <a:gd name="adj" fmla="val 6000"/>
            </a:avLst>
          </a:prstGeom>
          <a:solidFill>
            <a:srgbClr val="0B0F19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01752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22D3EE"/>
                </a:solidFill>
                <a:latin typeface="微软雅黑"/>
                <a:ea typeface="微软雅黑"/>
              </a:rPr>
              <a:t>≥ 0.30  秒回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51760" y="2834640"/>
            <a:ext cx="1828800" cy="731520"/>
          </a:xfrm>
          <a:prstGeom prst="roundRect">
            <a:avLst>
              <a:gd name="adj" fmla="val 6000"/>
            </a:avLst>
          </a:prstGeom>
          <a:solidFill>
            <a:srgbClr val="0B0F19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301752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38BDF8"/>
                </a:solidFill>
                <a:latin typeface="微软雅黑"/>
                <a:ea typeface="微软雅黑"/>
              </a:rPr>
              <a:t>0.11~0.30  进弹夹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2834640"/>
            <a:ext cx="1828800" cy="731520"/>
          </a:xfrm>
          <a:prstGeom prst="roundRect">
            <a:avLst>
              <a:gd name="adj" fmla="val 6000"/>
            </a:avLst>
          </a:prstGeom>
          <a:solidFill>
            <a:srgbClr val="0B0F19"/>
          </a:solidFill>
          <a:ln w="1270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301752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64748B"/>
                </a:solidFill>
                <a:latin typeface="微软雅黑"/>
                <a:ea typeface="微软雅黑"/>
              </a:rPr>
              <a:t>&lt; 0.11  丢弃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749039"/>
            <a:ext cx="5852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微软雅黑"/>
                <a:ea typeface="微软雅黑"/>
              </a:rPr>
              <a:t>688 条真实弹幕测试：秒回 10.5% / 弹夹 1.7% / 丢弃 87.8%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37160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E2E8F0"/>
                </a:solidFill>
                <a:latin typeface="微软雅黑"/>
                <a:ea typeface="微软雅黑"/>
              </a:rPr>
              <a:t>语音与演绎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0" y="1828800"/>
            <a:ext cx="4754880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86600" y="1938528"/>
            <a:ext cx="4297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2D3EE"/>
                </a:solidFill>
                <a:latin typeface="微软雅黑"/>
                <a:ea typeface="微软雅黑"/>
              </a:rPr>
              <a:t>TTS：CosyVoice2 混合声线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微软雅黑"/>
                <a:ea typeface="微软雅黑"/>
              </a:rPr>
              <a:t>芙宁娜×莫娜 5:5 +150 变调 —— 音色 embedding 可插值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0" y="3200400"/>
            <a:ext cx="4754880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6600" y="3310128"/>
            <a:ext cx="4297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2D3EE"/>
                </a:solidFill>
                <a:latin typeface="微软雅黑"/>
                <a:ea typeface="微软雅黑"/>
              </a:rPr>
              <a:t>Live2D：18 组待机动作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微软雅黑"/>
                <a:ea typeface="微软雅黑"/>
              </a:rPr>
              <a:t>吐槽摇头/歪头杀/无语… 时序来自人体运动研究，二阶弹簧过渡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0" y="4572000"/>
            <a:ext cx="4754880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86600" y="4681728"/>
            <a:ext cx="4297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2D3EE"/>
                </a:solidFill>
                <a:latin typeface="微软雅黑"/>
                <a:ea typeface="微软雅黑"/>
              </a:rPr>
              <a:t>流式口型预留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微软雅黑"/>
                <a:ea typeface="微软雅黑"/>
              </a:rPr>
              <a:t>SSE 逐 chunk + start_ms 时间戳，音频到哪嘴张到哪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29107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微软雅黑"/>
                <a:ea typeface="微软雅黑"/>
              </a:rPr>
              <a:t>迷你硬币 · 从零手搓的 AI 主播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626364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Consolas"/>
                <a:ea typeface="微软雅黑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0040"/>
            <a:ext cx="73152" cy="5669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01168"/>
            <a:ext cx="8686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E2E8F0"/>
                </a:solidFill>
                <a:latin typeface="微软雅黑"/>
                <a:ea typeface="微软雅黑"/>
              </a:rPr>
              <a:t>一些数字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4A3B8"/>
                </a:solidFill>
                <a:latin typeface="微软雅黑"/>
                <a:ea typeface="微软雅黑"/>
              </a:rPr>
              <a:t>一个人 + 一个 AI 助手，2.5 个月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26364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Consolas"/>
                <a:ea typeface="微软雅黑"/>
              </a:rPr>
              <a:t>11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3566160" cy="14630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5400" b="1">
                <a:solidFill>
                  <a:srgbClr val="22D3EE"/>
                </a:solidFill>
                <a:latin typeface="Consolas"/>
                <a:ea typeface="微软雅黑"/>
              </a:rPr>
              <a:t>2.5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E2E8F0"/>
                </a:solidFill>
                <a:latin typeface="微软雅黑"/>
                <a:ea typeface="微软雅黑"/>
              </a:rPr>
              <a:t>个月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9748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微软雅黑"/>
                <a:ea typeface="微软雅黑"/>
              </a:rPr>
              <a:t>从 17 阶段哲学训练到 v12b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554480"/>
            <a:ext cx="3566160" cy="14630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737360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5400" b="1">
                <a:solidFill>
                  <a:srgbClr val="22D3EE"/>
                </a:solidFill>
                <a:latin typeface="Consolas"/>
                <a:ea typeface="微软雅黑"/>
              </a:rPr>
              <a:t>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42316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E2E8F0"/>
                </a:solidFill>
                <a:latin typeface="微软雅黑"/>
                <a:ea typeface="微软雅黑"/>
              </a:rPr>
              <a:t>服务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69748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微软雅黑"/>
                <a:ea typeface="微软雅黑"/>
              </a:rPr>
              <a:t>一条命令全部启动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59" y="1554480"/>
            <a:ext cx="3566160" cy="14630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737360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5400" b="1">
                <a:solidFill>
                  <a:srgbClr val="22D3EE"/>
                </a:solidFill>
                <a:latin typeface="Consolas"/>
                <a:ea typeface="微软雅黑"/>
              </a:rPr>
              <a:t>24GB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42316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E2E8F0"/>
                </a:solidFill>
                <a:latin typeface="微软雅黑"/>
                <a:ea typeface="微软雅黑"/>
              </a:rPr>
              <a:t>显存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69748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微软雅黑"/>
                <a:ea typeface="微软雅黑"/>
              </a:rPr>
              <a:t>跑通 8B 全参训练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246120"/>
            <a:ext cx="3566160" cy="14630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429000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5400" b="1">
                <a:solidFill>
                  <a:srgbClr val="22D3EE"/>
                </a:solidFill>
                <a:latin typeface="Consolas"/>
                <a:ea typeface="微软雅黑"/>
              </a:rPr>
              <a:t>523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11480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E2E8F0"/>
                </a:solidFill>
                <a:latin typeface="微软雅黑"/>
                <a:ea typeface="微软雅黑"/>
              </a:rPr>
              <a:t>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3891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微软雅黑"/>
                <a:ea typeface="微软雅黑"/>
              </a:rPr>
              <a:t>当前训练数据（8月合并版）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3246120"/>
            <a:ext cx="3566160" cy="14630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3429000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5400" b="1">
                <a:solidFill>
                  <a:srgbClr val="22D3EE"/>
                </a:solidFill>
                <a:latin typeface="Consolas"/>
                <a:ea typeface="微软雅黑"/>
              </a:rPr>
              <a:t>1489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411480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E2E8F0"/>
                </a:solidFill>
                <a:latin typeface="微软雅黑"/>
                <a:ea typeface="微软雅黑"/>
              </a:rPr>
              <a:t>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43891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微软雅黑"/>
                <a:ea typeface="微软雅黑"/>
              </a:rPr>
              <a:t>长期记忆库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59" y="3246120"/>
            <a:ext cx="3566160" cy="14630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3429000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5400" b="1">
                <a:solidFill>
                  <a:srgbClr val="22D3EE"/>
                </a:solidFill>
                <a:latin typeface="Consolas"/>
                <a:ea typeface="微软雅黑"/>
              </a:rPr>
              <a:t>47+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11480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E2E8F0"/>
                </a:solidFill>
                <a:latin typeface="微软雅黑"/>
                <a:ea typeface="微软雅黑"/>
              </a:rPr>
              <a:t>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43891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微软雅黑"/>
                <a:ea typeface="微软雅黑"/>
              </a:rPr>
              <a:t>工具链 GRPO 迭代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29107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微软雅黑"/>
                <a:ea typeface="微软雅黑"/>
              </a:rPr>
              <a:t>迷你硬币 · 从零手搓的 AI 主播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626364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Consolas"/>
                <a:ea typeface="微软雅黑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66928"/>
            <a:ext cx="12191695" cy="0"/>
          </a:xfrm>
          <a:prstGeom prst="line">
            <a:avLst/>
          </a:prstGeom>
          <a:ln w="12700">
            <a:solidFill>
              <a:srgbClr val="64748B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33856"/>
            <a:ext cx="12191695" cy="0"/>
          </a:xfrm>
          <a:prstGeom prst="line">
            <a:avLst/>
          </a:prstGeom>
          <a:ln w="12700">
            <a:solidFill>
              <a:srgbClr val="64748B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00784"/>
            <a:ext cx="12191695" cy="0"/>
          </a:xfrm>
          <a:prstGeom prst="line">
            <a:avLst/>
          </a:prstGeom>
          <a:ln w="12700">
            <a:solidFill>
              <a:srgbClr val="64748B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67712"/>
            <a:ext cx="12191695" cy="0"/>
          </a:xfrm>
          <a:prstGeom prst="line">
            <a:avLst/>
          </a:prstGeom>
          <a:ln w="12700">
            <a:solidFill>
              <a:srgbClr val="64748B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34640"/>
            <a:ext cx="12191695" cy="0"/>
          </a:xfrm>
          <a:prstGeom prst="line">
            <a:avLst/>
          </a:prstGeom>
          <a:ln w="12700">
            <a:solidFill>
              <a:srgbClr val="64748B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01568"/>
            <a:ext cx="12191695" cy="0"/>
          </a:xfrm>
          <a:prstGeom prst="line">
            <a:avLst/>
          </a:prstGeom>
          <a:ln w="12700">
            <a:solidFill>
              <a:srgbClr val="64748B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3968496"/>
            <a:ext cx="12191695" cy="0"/>
          </a:xfrm>
          <a:prstGeom prst="line">
            <a:avLst/>
          </a:prstGeom>
          <a:ln w="12700">
            <a:solidFill>
              <a:srgbClr val="64748B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35424"/>
            <a:ext cx="12191695" cy="0"/>
          </a:xfrm>
          <a:prstGeom prst="line">
            <a:avLst/>
          </a:prstGeom>
          <a:ln w="12700">
            <a:solidFill>
              <a:srgbClr val="64748B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02352"/>
            <a:ext cx="12191695" cy="0"/>
          </a:xfrm>
          <a:prstGeom prst="line">
            <a:avLst/>
          </a:prstGeom>
          <a:ln w="12700">
            <a:solidFill>
              <a:srgbClr val="64748B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669280"/>
            <a:ext cx="12191695" cy="0"/>
          </a:xfrm>
          <a:prstGeom prst="line">
            <a:avLst/>
          </a:prstGeom>
          <a:ln w="12700">
            <a:solidFill>
              <a:srgbClr val="64748B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36208"/>
            <a:ext cx="12191695" cy="0"/>
          </a:xfrm>
          <a:prstGeom prst="line">
            <a:avLst/>
          </a:prstGeom>
          <a:ln w="12700">
            <a:solidFill>
              <a:srgbClr val="64748B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03136"/>
            <a:ext cx="12191695" cy="0"/>
          </a:xfrm>
          <a:prstGeom prst="line">
            <a:avLst/>
          </a:prstGeom>
          <a:ln w="12700">
            <a:solidFill>
              <a:srgbClr val="64748B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097280" y="210312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E2E8F0"/>
                </a:solidFill>
                <a:latin typeface="微软雅黑"/>
                <a:ea typeface="微软雅黑"/>
              </a:rPr>
              <a:t>不知道有框架，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01752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22D3EE"/>
                </a:solidFill>
                <a:latin typeface="微软雅黑"/>
                <a:ea typeface="微软雅黑"/>
              </a:rPr>
              <a:t>所以造了框架装不下的东西。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20624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94A3B8"/>
                </a:solidFill>
                <a:latin typeface="微软雅黑"/>
                <a:ea typeface="微软雅黑"/>
              </a:rPr>
              <a:t>研究不是读了多少论文，而是每个参数都敢问为什么。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66928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4748B"/>
                </a:solidFill>
                <a:latin typeface="Consolas"/>
                <a:ea typeface="微软雅黑"/>
              </a:rPr>
              <a:t>迷你硬币 · 2026  ·  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5577840"/>
            <a:ext cx="548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22D3EE"/>
                </a:solidFill>
                <a:latin typeface="Consolas"/>
                <a:ea typeface="微软雅黑"/>
              </a:rPr>
              <a:t>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